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5424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逆思投資｜AI 智慧投資顧問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產品規劃文件總覽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六份文件，從「這是什麼產品？」到「怎麼交給 Codex 產生 Figma？」，共同組成完整的產品規劃母架構。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2A357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3172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核心價值　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個人化  ×  決策驗證  ×  AI 陪伴  ×  持續追蹤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六份文件總覽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97280" y="371246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01_Product_Story　</a:t>
            </a:r>
            <a:r>
              <a:rPr lang="en-US" sz="1200" dirty="0">
                <a:solidFill>
                  <a:srgbClr val="D6D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產品定位、核心價值與差異化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97280" y="416966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02_User_Story　</a:t>
            </a:r>
            <a:r>
              <a:rPr lang="en-US" sz="1200" dirty="0">
                <a:solidFill>
                  <a:srgbClr val="D6D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個使用者故事，涵蓋新手與資深投資者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663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97280" y="462686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03_App_Story_Flow　</a:t>
            </a:r>
            <a:r>
              <a:rPr lang="en-US" sz="1200" dirty="0">
                <a:solidFill>
                  <a:srgbClr val="D6D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個 Story Node，完整使用者旅程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12064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120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97280" y="508406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04_Screen_Spec　</a:t>
            </a:r>
            <a:r>
              <a:rPr lang="en-US" sz="1200" dirty="0">
                <a:solidFill>
                  <a:srgbClr val="D6D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對應 17＋ 個畫面的詳細規格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57784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577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97280" y="554126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05_Design_Guide　</a:t>
            </a:r>
            <a:r>
              <a:rPr lang="en-US" sz="1200" dirty="0">
                <a:solidFill>
                  <a:srgbClr val="D6D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設計系統、Web / App 轉換規則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603504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6035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97280" y="599846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06_Generate_Prompt　</a:t>
            </a:r>
            <a:r>
              <a:rPr lang="en-US" sz="1200" dirty="0">
                <a:solidFill>
                  <a:srgbClr val="D6D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彙整為可交付 Codex 的生成指令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逆思投資．產品規劃文件總覽　|　1 / </a:t>
            </a:r>
            <a:r>
              <a:rPr lang="en-US" sz="950" dirty="0" smtClean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六份文件的定位與關係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文件彼此層層承接，逐步從「產品故事」推進到「可執行的生成指令」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F2F5FC"/>
          </a:solidFill>
          <a:ln/>
          <a:effectLst>
            <a:outerShdw blurRad="63500" dist="25400" dir="5400000" algn="bl" rotWithShape="0">
              <a:srgbClr val="6B7A99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53619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536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01_Product_Story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98448" y="1728216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「這是什麼產品？」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212140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定義核心價值：個人化 × 決策驗證 × AI 陪伴 × 持續追蹤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8096" y="2432304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例如：「先理解自己，再規劃投資；先形成理由，再持續驗證」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E9EEFA"/>
          </a:solidFill>
          <a:ln/>
          <a:effectLst>
            <a:outerShdw blurRad="63500" dist="25400" dir="5400000" algn="bl" rotWithShape="0">
              <a:srgbClr val="6B7A99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19088" y="1536192"/>
            <a:ext cx="420624" cy="420624"/>
          </a:xfrm>
          <a:prstGeom prst="ellipse">
            <a:avLst/>
          </a:prstGeom>
          <a:solidFill>
            <a:srgbClr val="5B7FBF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1536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67728" y="1481328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02_User_Story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967728" y="1728216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「誰遇到什麼情況？」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37376" y="212140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個 User Story，涵蓋投資新手與資深投資者的共同旅程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37376" y="2432304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例如：「建立我的目標」「驗證我的投資理由」「持續掌握重要變化」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E4F1F2"/>
          </a:solidFill>
          <a:ln/>
          <a:effectLst>
            <a:outerShdw blurRad="63500" dist="25400" dir="5400000" algn="bl" rotWithShape="0">
              <a:srgbClr val="6B7A99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313639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136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98448" y="3081528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03_App_Story_Flow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298448" y="3328416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「如何走完整段旅程？」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8096" y="372160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個 Story Node，定義完整互動流程與 AI 對話的跨流程定位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68096" y="4032504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例如：投資風險儀表板、我的投資輪廓、AI 對話助理、心跳追蹤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297180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F2F5FC"/>
          </a:solidFill>
          <a:ln/>
          <a:effectLst>
            <a:outerShdw blurRad="63500" dist="25400" dir="5400000" algn="bl" rotWithShape="0">
              <a:srgbClr val="6B7A99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19088" y="313639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419088" y="3136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67728" y="3081528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04_Screen_Spec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967728" y="3328416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「這故事需要哪些畫面？」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37376" y="372160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對應 17＋ 個畫面，逐一定義畫面目的、核心資訊與元件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37376" y="4032504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例如：Screen 05「我的投資輪廓」＝雷達圖＋白話文字摘要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457200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E9EEFA"/>
          </a:solidFill>
          <a:ln/>
          <a:effectLst>
            <a:outerShdw blurRad="63500" dist="25400" dir="5400000" algn="bl" rotWithShape="0">
              <a:srgbClr val="6B7A99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9808" y="4736592"/>
            <a:ext cx="420624" cy="420624"/>
          </a:xfrm>
          <a:prstGeom prst="ellipse">
            <a:avLst/>
          </a:prstGeom>
          <a:solidFill>
            <a:srgbClr val="5B7FBF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" y="4736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98448" y="4681728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05_Design_Guide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298448" y="4928616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「畫面要怎麼長得像同個 App？」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8096" y="532180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設計系統、Design Token、Web-first／App-adaptive 轉換規則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68096" y="5632704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例如：Color／Typography／Spacing Token、卡片系統規則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17920" y="457200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E4F1F2"/>
          </a:solidFill>
          <a:ln/>
          <a:effectLst>
            <a:outerShdw blurRad="63500" dist="25400" dir="5400000" algn="bl" rotWithShape="0">
              <a:srgbClr val="6B7A99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19088" y="473659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1" name="Text 39"/>
          <p:cNvSpPr/>
          <p:nvPr/>
        </p:nvSpPr>
        <p:spPr>
          <a:xfrm>
            <a:off x="6419088" y="4736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67728" y="4681728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06_Generate_Prompt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967728" y="4928616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「怎麼交給 Codex 產生 Figma？」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37376" y="532180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彙整前五份文件，形成可執行生成指令與一致性檢查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37376" y="5632704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例如：Screen 10 AI 對話的特殊 Navigation／返回規則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逆思投資．產品規劃文件總覽　|　2 / </a:t>
            </a:r>
            <a:r>
              <a:rPr lang="en-US" sz="950" dirty="0" smtClean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使用者故事：13 個 User Story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從「我的目標」出發，理解自己、建立規劃、探索驗證，到持續追蹤 — 依同一套四階段旅程分組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理解自己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02536"/>
            <a:ext cx="2560320" cy="402336"/>
          </a:xfrm>
          <a:prstGeom prst="roundRect">
            <a:avLst>
              <a:gd name="adj" fmla="val 15909"/>
            </a:avLst>
          </a:prstGeom>
          <a:solidFill>
            <a:srgbClr val="F2F5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0253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建立我的目標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2560320" cy="402336"/>
          </a:xfrm>
          <a:prstGeom prst="roundRect">
            <a:avLst>
              <a:gd name="adj" fmla="val 15909"/>
            </a:avLst>
          </a:prstGeom>
          <a:solidFill>
            <a:srgbClr val="F2F5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146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理解我的投資條件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026664"/>
            <a:ext cx="2560320" cy="402336"/>
          </a:xfrm>
          <a:prstGeom prst="roundRect">
            <a:avLst>
              <a:gd name="adj" fmla="val 15909"/>
            </a:avLst>
          </a:prstGeom>
          <a:solidFill>
            <a:srgbClr val="F2F5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2666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看懂我的投資輪廓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45536" y="1563624"/>
            <a:ext cx="246888" cy="164592"/>
          </a:xfrm>
          <a:prstGeom prst="rightArrow">
            <a:avLst/>
          </a:prstGeom>
          <a:solidFill>
            <a:srgbClr val="B7C2D6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4173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5B7FBF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建立規劃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29000" y="2002536"/>
            <a:ext cx="2560320" cy="402336"/>
          </a:xfrm>
          <a:prstGeom prst="roundRect">
            <a:avLst>
              <a:gd name="adj" fmla="val 15909"/>
            </a:avLst>
          </a:prstGeom>
          <a:solidFill>
            <a:srgbClr val="E9EEFA"/>
          </a:solidFill>
          <a:ln w="9525">
            <a:solidFill>
              <a:srgbClr val="5B7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200253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找到適合我的投資規劃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25896" y="1563624"/>
            <a:ext cx="246888" cy="164592"/>
          </a:xfrm>
          <a:prstGeom prst="rightArrow">
            <a:avLst/>
          </a:prstGeom>
          <a:solidFill>
            <a:srgbClr val="B7C2D6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14173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探索與驗證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2002536"/>
            <a:ext cx="2560320" cy="402336"/>
          </a:xfrm>
          <a:prstGeom prst="roundRect">
            <a:avLst>
              <a:gd name="adj" fmla="val 15909"/>
            </a:avLst>
          </a:prstGeom>
          <a:solidFill>
            <a:srgbClr val="E4F1F2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00253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探索值得研究的投資方向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2514600"/>
            <a:ext cx="2560320" cy="402336"/>
          </a:xfrm>
          <a:prstGeom prst="roundRect">
            <a:avLst>
              <a:gd name="adj" fmla="val 15909"/>
            </a:avLst>
          </a:prstGeom>
          <a:solidFill>
            <a:srgbClr val="E4F1F2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5146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理解投資標的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3026664"/>
            <a:ext cx="2560320" cy="402336"/>
          </a:xfrm>
          <a:prstGeom prst="roundRect">
            <a:avLst>
              <a:gd name="adj" fmla="val 15909"/>
            </a:avLst>
          </a:prstGeom>
          <a:solidFill>
            <a:srgbClr val="E4F1F2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02666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 AI 對話理解投資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3538728"/>
            <a:ext cx="2560320" cy="402336"/>
          </a:xfrm>
          <a:prstGeom prst="roundRect">
            <a:avLst>
              <a:gd name="adj" fmla="val 15909"/>
            </a:avLst>
          </a:prstGeom>
          <a:solidFill>
            <a:srgbClr val="E4F1F2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53872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驗證我的投資理由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9360" y="4050792"/>
            <a:ext cx="2560320" cy="402336"/>
          </a:xfrm>
          <a:prstGeom prst="roundRect">
            <a:avLst>
              <a:gd name="adj" fmla="val 15909"/>
            </a:avLst>
          </a:prstGeom>
          <a:solidFill>
            <a:srgbClr val="E4F1F2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05079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理解標的成立度與個人適合度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9360" y="4562856"/>
            <a:ext cx="2560320" cy="402336"/>
          </a:xfrm>
          <a:prstGeom prst="roundRect">
            <a:avLst>
              <a:gd name="adj" fmla="val 15909"/>
            </a:avLst>
          </a:prstGeom>
          <a:solidFill>
            <a:srgbClr val="E4F1F2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5628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建立我的論點卡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906256" y="1563624"/>
            <a:ext cx="246888" cy="164592"/>
          </a:xfrm>
          <a:prstGeom prst="rightArrow">
            <a:avLst/>
          </a:prstGeom>
          <a:solidFill>
            <a:srgbClr val="B7C2D6"/>
          </a:solidFill>
          <a:ln/>
        </p:spPr>
      </p:sp>
      <p:sp>
        <p:nvSpPr>
          <p:cNvPr id="33" name="Shape 31"/>
          <p:cNvSpPr/>
          <p:nvPr/>
        </p:nvSpPr>
        <p:spPr>
          <a:xfrm>
            <a:off x="9189720" y="14173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918972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持續追蹤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189720" y="2002536"/>
            <a:ext cx="2560320" cy="402336"/>
          </a:xfrm>
          <a:prstGeom prst="roundRect">
            <a:avLst>
              <a:gd name="adj" fmla="val 15909"/>
            </a:avLst>
          </a:prstGeom>
          <a:solidFill>
            <a:srgbClr val="DFF6EF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81160" y="200253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持續掌握重要變化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189720" y="2514600"/>
            <a:ext cx="2560320" cy="402336"/>
          </a:xfrm>
          <a:prstGeom prst="roundRect">
            <a:avLst>
              <a:gd name="adj" fmla="val 15909"/>
            </a:avLst>
          </a:prstGeom>
          <a:solidFill>
            <a:srgbClr val="DFF6EF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81160" y="25146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理解重大變化的影響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189720" y="3026664"/>
            <a:ext cx="2560320" cy="402336"/>
          </a:xfrm>
          <a:prstGeom prst="roundRect">
            <a:avLst>
              <a:gd name="adj" fmla="val 15909"/>
            </a:avLst>
          </a:prstGeom>
          <a:solidFill>
            <a:srgbClr val="DFF6EF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81160" y="302666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更新我的投資理解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逆思投資．產品規劃文件總覽　|　3 / </a:t>
            </a:r>
            <a:r>
              <a:rPr lang="en-US" sz="950" i="1" dirty="0" smtClean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使用者旅程：17 個 Story Node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承接 User Story 的需求，轉化為實際的畫面／流程節點順序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理解自己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01952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F2F5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01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歡迎／開始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548640" y="2340864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F2F5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408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我的目標（問卷卡）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48640" y="2779776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F2F5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797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我的個人條件（問卷卡）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48640" y="3218688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F2F5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18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投資風險儀表板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F2F5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我的投資輪廓（雷達圖）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3145536" y="1508760"/>
            <a:ext cx="246888" cy="164592"/>
          </a:xfrm>
          <a:prstGeom prst="rightArrow">
            <a:avLst/>
          </a:prstGeom>
          <a:solidFill>
            <a:srgbClr val="B7C2D6"/>
          </a:solidFill>
          <a:ln/>
        </p:spPr>
      </p:sp>
      <p:sp>
        <p:nvSpPr>
          <p:cNvPr id="17" name="Shape 15"/>
          <p:cNvSpPr/>
          <p:nvPr/>
        </p:nvSpPr>
        <p:spPr>
          <a:xfrm>
            <a:off x="3429000" y="1371600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5B7FBF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13716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建立規劃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429000" y="1901952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E9EEFA"/>
          </a:solidFill>
          <a:ln w="9525">
            <a:solidFill>
              <a:srgbClr val="5B7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1901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我的投資規劃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025896" y="1508760"/>
            <a:ext cx="246888" cy="164592"/>
          </a:xfrm>
          <a:prstGeom prst="rightArrow">
            <a:avLst/>
          </a:prstGeom>
          <a:solidFill>
            <a:srgbClr val="B7C2D6"/>
          </a:solidFill>
          <a:ln/>
        </p:spPr>
      </p:sp>
      <p:sp>
        <p:nvSpPr>
          <p:cNvPr id="22" name="Shape 20"/>
          <p:cNvSpPr/>
          <p:nvPr/>
        </p:nvSpPr>
        <p:spPr>
          <a:xfrm>
            <a:off x="6309360" y="1371600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3716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探索與驗證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09360" y="1901952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E4F1F2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901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投資方向探索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309360" y="2340864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E4F1F2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3408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候選投資標的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6309360" y="2779776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E4F1F2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27797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標的詳細分析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6309360" y="3218688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E4F1F2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218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對話助理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6309360" y="3657600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E4F1F2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決策驗證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6309360" y="4096512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E4F1F2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4096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雙重評分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309360" y="4535424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E4F1F2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45354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我的論點卡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8906256" y="1508760"/>
            <a:ext cx="246888" cy="164592"/>
          </a:xfrm>
          <a:prstGeom prst="rightArrow">
            <a:avLst/>
          </a:prstGeom>
          <a:solidFill>
            <a:srgbClr val="B7C2D6"/>
          </a:solidFill>
          <a:ln/>
        </p:spPr>
      </p:sp>
      <p:sp>
        <p:nvSpPr>
          <p:cNvPr id="39" name="Shape 37"/>
          <p:cNvSpPr/>
          <p:nvPr/>
        </p:nvSpPr>
        <p:spPr>
          <a:xfrm>
            <a:off x="9189720" y="1371600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40" name="Text 38"/>
          <p:cNvSpPr/>
          <p:nvPr/>
        </p:nvSpPr>
        <p:spPr>
          <a:xfrm>
            <a:off x="9189720" y="13716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持續追蹤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9189720" y="1901952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DFF6EF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81160" y="1901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心跳追蹤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9189720" y="2340864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DFF6EF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81160" y="23408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重要變化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9189720" y="2779776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DFF6EF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81160" y="27797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解讀重要變化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9189720" y="3218688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DFF6EF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81160" y="3218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更新投資理解與規劃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548640" y="5989320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1E2761"/>
          </a:solidFill>
          <a:ln/>
        </p:spPr>
      </p:sp>
      <p:sp>
        <p:nvSpPr>
          <p:cNvPr id="50" name="Shape 48"/>
          <p:cNvSpPr/>
          <p:nvPr/>
        </p:nvSpPr>
        <p:spPr>
          <a:xfrm>
            <a:off x="777240" y="6135624"/>
            <a:ext cx="219456" cy="182880"/>
          </a:xfrm>
          <a:prstGeom prst="leftArrow">
            <a:avLst/>
          </a:prstGeom>
          <a:solidFill>
            <a:srgbClr val="02C39A"/>
          </a:solidFill>
          <a:ln/>
        </p:spPr>
      </p:sp>
      <p:sp>
        <p:nvSpPr>
          <p:cNvPr id="51" name="Text 49"/>
          <p:cNvSpPr/>
          <p:nvPr/>
        </p:nvSpPr>
        <p:spPr>
          <a:xfrm>
            <a:off x="1143000" y="5989320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完成一輪旅程後回到「理解自己」— 投資規劃隨市場變化與自身條件持續更新，形成閉環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逆思投資．產品規劃文件總覽　|　4 </a:t>
            </a:r>
            <a:r>
              <a:rPr lang="en-US" sz="95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50" smtClean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349</Words>
  <Application>Microsoft Office PowerPoint</Application>
  <PresentationFormat>寬螢幕</PresentationFormat>
  <Paragraphs>100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6</cp:revision>
  <dcterms:created xsi:type="dcterms:W3CDTF">2026-08-09T13:32:39Z</dcterms:created>
  <dcterms:modified xsi:type="dcterms:W3CDTF">2026-08-09T13:40:11Z</dcterms:modified>
</cp:coreProperties>
</file>