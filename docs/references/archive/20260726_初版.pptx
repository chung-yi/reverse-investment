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16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97010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160241"/>
            <a:ext cx="3877985" cy="58477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400" b="1">
                <a:solidFill>
                  <a:srgbClr val="1A2528"/>
                </a:solidFill>
              </a:defRPr>
            </a:pPr>
            <a:r>
              <a:rPr sz="32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產品定位與市場差異</a:t>
            </a:r>
            <a:endParaRPr sz="3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687361"/>
            <a:ext cx="5929828" cy="30777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050" b="1">
                <a:solidFill>
                  <a:srgbClr val="5A696E"/>
                </a:solidFill>
              </a:defRPr>
            </a:pPr>
            <a:r>
              <a:rPr sz="1400" dirty="0" err="1">
                <a:solidFill>
                  <a:srgbClr val="5E6B7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重點：不是功能拼裝，而是以使用者為核心的「個人化投資決策閉環</a:t>
            </a:r>
            <a:r>
              <a:rPr sz="1400" dirty="0">
                <a:solidFill>
                  <a:srgbClr val="5E6B7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」。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024128"/>
            <a:ext cx="11109960" cy="0"/>
          </a:xfrm>
          <a:prstGeom prst="line">
            <a:avLst/>
          </a:prstGeom>
          <a:ln w="12700">
            <a:solidFill>
              <a:srgbClr val="D0D9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07130" y="1192287"/>
            <a:ext cx="10238700" cy="5232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1B4E47"/>
                </a:solidFill>
              </a:defRPr>
            </a:pPr>
            <a:r>
              <a:rPr sz="28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逆思投資：持續驗證「這筆投資是否合理、是否適合現在的我</a:t>
            </a:r>
            <a:r>
              <a:rPr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35168" y="1636597"/>
            <a:ext cx="6782626" cy="30777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50" b="1">
                <a:solidFill>
                  <a:srgbClr val="5A696E"/>
                </a:solidFill>
              </a:defRPr>
            </a:pPr>
            <a:r>
              <a:rPr sz="14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差異主張：將個人條件</a:t>
            </a:r>
            <a:r>
              <a:rPr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× </a:t>
            </a:r>
            <a:r>
              <a:rPr sz="14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標的資料</a:t>
            </a:r>
            <a:r>
              <a:rPr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× </a:t>
            </a:r>
            <a:r>
              <a:rPr sz="14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投資理由</a:t>
            </a:r>
            <a:r>
              <a:rPr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× </a:t>
            </a:r>
            <a:r>
              <a:rPr sz="14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持續變化，放進同一個決策模型</a:t>
            </a:r>
            <a:r>
              <a:rPr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</a:p>
        </p:txBody>
      </p:sp>
      <p:sp>
        <p:nvSpPr>
          <p:cNvPr id="7" name="Oval 6"/>
          <p:cNvSpPr/>
          <p:nvPr/>
        </p:nvSpPr>
        <p:spPr>
          <a:xfrm>
            <a:off x="4443984" y="2761488"/>
            <a:ext cx="3310128" cy="1188720"/>
          </a:xfrm>
          <a:prstGeom prst="ellipse">
            <a:avLst/>
          </a:prstGeom>
          <a:solidFill>
            <a:srgbClr val="1B4E47"/>
          </a:solidFill>
          <a:ln>
            <a:solidFill>
              <a:srgbClr val="1B4E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rPr sz="1400">
                <a:latin typeface="微軟正黑體" panose="020B0604030504040204" pitchFamily="34" charset="-120"/>
                <a:ea typeface="微軟正黑體" panose="020B0604030504040204" pitchFamily="34" charset="-120"/>
              </a:rPr>
              <a:t>個人化</a:t>
            </a:r>
            <a:br>
              <a:rPr sz="140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sz="1400">
                <a:latin typeface="微軟正黑體" panose="020B0604030504040204" pitchFamily="34" charset="-120"/>
                <a:ea typeface="微軟正黑體" panose="020B0604030504040204" pitchFamily="34" charset="-120"/>
              </a:rPr>
              <a:t>決策閉環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57400"/>
            <a:ext cx="274320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73152" rIns="109728" bIns="54864" rtlCol="0" anchor="ctr"/>
          <a:lstStyle/>
          <a:p>
            <a:pPr algn="ctr">
              <a:defRPr sz="1500" b="1">
                <a:solidFill>
                  <a:srgbClr val="3F9E66"/>
                </a:solidFill>
              </a:defRPr>
            </a:pPr>
            <a:r>
              <a:rPr sz="1400">
                <a:latin typeface="微軟正黑體" panose="020B0604030504040204" pitchFamily="34" charset="-120"/>
                <a:ea typeface="微軟正黑體" panose="020B0604030504040204" pitchFamily="34" charset="-120"/>
              </a:rPr>
              <a:t>1 個人風險輪廓</a:t>
            </a:r>
          </a:p>
          <a:p>
            <a:pPr>
              <a:spcBef>
                <a:spcPts val="800"/>
              </a:spcBef>
              <a:defRPr sz="1050" b="1">
                <a:solidFill>
                  <a:srgbClr val="1A2528"/>
                </a:solidFill>
              </a:defRPr>
            </a:pPr>
            <a:r>
              <a:rPr sz="1400">
                <a:latin typeface="微軟正黑體" panose="020B0604030504040204" pitchFamily="34" charset="-120"/>
                <a:ea typeface="微軟正黑體" panose="020B0604030504040204" pitchFamily="34" charset="-120"/>
              </a:rPr>
              <a:t>收入、目標、期限、承受損失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49640" y="2057400"/>
            <a:ext cx="274320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73152" rIns="109728" bIns="54864" rtlCol="0" anchor="ctr"/>
          <a:lstStyle/>
          <a:p>
            <a:pPr algn="ctr">
              <a:defRPr sz="1500" b="1">
                <a:solidFill>
                  <a:srgbClr val="DF9F24"/>
                </a:solidFill>
              </a:defRPr>
            </a:pPr>
            <a:r>
              <a:rPr sz="1400">
                <a:latin typeface="微軟正黑體" panose="020B0604030504040204" pitchFamily="34" charset="-120"/>
                <a:ea typeface="微軟正黑體" panose="020B0604030504040204" pitchFamily="34" charset="-120"/>
              </a:rPr>
              <a:t>2 投資方向探索</a:t>
            </a:r>
          </a:p>
          <a:p>
            <a:pPr>
              <a:spcBef>
                <a:spcPts val="800"/>
              </a:spcBef>
              <a:defRPr sz="1050" b="1">
                <a:solidFill>
                  <a:srgbClr val="1A2528"/>
                </a:solidFill>
              </a:defRPr>
            </a:pPr>
            <a:r>
              <a:rPr sz="1400">
                <a:latin typeface="微軟正黑體" panose="020B0604030504040204" pitchFamily="34" charset="-120"/>
                <a:ea typeface="微軟正黑體" panose="020B0604030504040204" pitchFamily="34" charset="-120"/>
              </a:rPr>
              <a:t>不知道投什麼時先縮小範圍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49640" y="4315968"/>
            <a:ext cx="274320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73152" rIns="109728" bIns="54864" rtlCol="0" anchor="ctr"/>
          <a:lstStyle/>
          <a:p>
            <a:pPr algn="ctr">
              <a:defRPr sz="1500" b="1">
                <a:solidFill>
                  <a:srgbClr val="D85B49"/>
                </a:solidFill>
              </a:defRPr>
            </a:pPr>
            <a:r>
              <a:rPr sz="1400">
                <a:latin typeface="微軟正黑體" panose="020B0604030504040204" pitchFamily="34" charset="-120"/>
                <a:ea typeface="微軟正黑體" panose="020B0604030504040204" pitchFamily="34" charset="-120"/>
              </a:rPr>
              <a:t>3 投資理由壓測</a:t>
            </a:r>
          </a:p>
          <a:p>
            <a:pPr>
              <a:spcBef>
                <a:spcPts val="800"/>
              </a:spcBef>
              <a:defRPr sz="1050" b="1">
                <a:solidFill>
                  <a:srgbClr val="1A2528"/>
                </a:solidFill>
              </a:defRPr>
            </a:pPr>
            <a:r>
              <a:rPr sz="1400">
                <a:latin typeface="微軟正黑體" panose="020B0604030504040204" pitchFamily="34" charset="-120"/>
                <a:ea typeface="微軟正黑體" panose="020B0604030504040204" pitchFamily="34" charset="-120"/>
              </a:rPr>
              <a:t>支持／反方／假設／風險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315968"/>
            <a:ext cx="274320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73152" rIns="109728" bIns="54864" rtlCol="0" anchor="ctr"/>
          <a:lstStyle/>
          <a:p>
            <a:pPr algn="ctr">
              <a:defRPr sz="1500" b="1">
                <a:solidFill>
                  <a:srgbClr val="4678C3"/>
                </a:solidFill>
              </a:defRPr>
            </a:pPr>
            <a:r>
              <a:rPr sz="1400">
                <a:latin typeface="微軟正黑體" panose="020B0604030504040204" pitchFamily="34" charset="-120"/>
                <a:ea typeface="微軟正黑體" panose="020B0604030504040204" pitchFamily="34" charset="-120"/>
              </a:rPr>
              <a:t>4 心跳式驗證</a:t>
            </a:r>
          </a:p>
          <a:p>
            <a:pPr>
              <a:spcBef>
                <a:spcPts val="800"/>
              </a:spcBef>
              <a:defRPr sz="1050" b="1">
                <a:solidFill>
                  <a:srgbClr val="1A2528"/>
                </a:solidFill>
              </a:defRPr>
            </a:pPr>
            <a:r>
              <a:rPr sz="1400">
                <a:latin typeface="微軟正黑體" panose="020B0604030504040204" pitchFamily="34" charset="-120"/>
                <a:ea typeface="微軟正黑體" panose="020B0604030504040204" pitchFamily="34" charset="-120"/>
              </a:rPr>
              <a:t>重大變化才通知並重評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611880" y="2468880"/>
            <a:ext cx="4800600" cy="0"/>
          </a:xfrm>
          <a:prstGeom prst="line">
            <a:avLst/>
          </a:prstGeom>
          <a:ln w="25400">
            <a:solidFill>
              <a:srgbClr val="DF9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921240" y="2944368"/>
            <a:ext cx="0" cy="1234440"/>
          </a:xfrm>
          <a:prstGeom prst="line">
            <a:avLst/>
          </a:prstGeom>
          <a:ln w="25400">
            <a:solidFill>
              <a:srgbClr val="D85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3657600" y="4727448"/>
            <a:ext cx="4754880" cy="0"/>
          </a:xfrm>
          <a:prstGeom prst="line">
            <a:avLst/>
          </a:prstGeom>
          <a:ln w="25400">
            <a:solidFill>
              <a:srgbClr val="4678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2148840" y="2944368"/>
            <a:ext cx="0" cy="1234440"/>
          </a:xfrm>
          <a:prstGeom prst="line">
            <a:avLst/>
          </a:prstGeom>
          <a:ln w="25400">
            <a:solidFill>
              <a:srgbClr val="3F9E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659027" y="4079784"/>
            <a:ext cx="4852610" cy="30777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50" b="1">
                <a:solidFill>
                  <a:srgbClr val="1B4E47"/>
                </a:solidFill>
              </a:defRPr>
            </a:pPr>
            <a:r>
              <a:rPr sz="1400">
                <a:latin typeface="微軟正黑體" panose="020B0604030504040204" pitchFamily="34" charset="-120"/>
                <a:ea typeface="微軟正黑體" panose="020B0604030504040204" pitchFamily="34" charset="-120"/>
              </a:rPr>
              <a:t>每次資料或個人條件變化，都重新檢查原始決策是否仍成立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446813"/>
            <a:ext cx="2698175" cy="30777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1">
                <a:solidFill>
                  <a:srgbClr val="1A2528"/>
                </a:solidFill>
              </a:defRPr>
            </a:pPr>
            <a:r>
              <a:rPr sz="1400">
                <a:latin typeface="微軟正黑體" panose="020B0604030504040204" pitchFamily="34" charset="-120"/>
                <a:ea typeface="微軟正黑體" panose="020B0604030504040204" pitchFamily="34" charset="-120"/>
              </a:rPr>
              <a:t>市場常見產品各自回答不同問題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806440"/>
            <a:ext cx="1737360" cy="329184"/>
          </a:xfrm>
          <a:prstGeom prst="roundRect">
            <a:avLst/>
          </a:prstGeom>
          <a:solidFill>
            <a:srgbClr val="56656C"/>
          </a:solidFill>
          <a:ln>
            <a:solidFill>
              <a:srgbClr val="5665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rPr sz="1600">
                <a:latin typeface="微軟正黑體" panose="020B0604030504040204" pitchFamily="34" charset="-120"/>
                <a:ea typeface="微軟正黑體" panose="020B0604030504040204" pitchFamily="34" charset="-120"/>
              </a:rPr>
              <a:t>記帳：錢去哪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971800" y="5806440"/>
            <a:ext cx="1874519" cy="329184"/>
          </a:xfrm>
          <a:prstGeom prst="roundRect">
            <a:avLst/>
          </a:prstGeom>
          <a:solidFill>
            <a:srgbClr val="56656C"/>
          </a:solidFill>
          <a:ln>
            <a:solidFill>
              <a:srgbClr val="5665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rPr sz="1600">
                <a:latin typeface="微軟正黑體" panose="020B0604030504040204" pitchFamily="34" charset="-120"/>
                <a:ea typeface="微軟正黑體" panose="020B0604030504040204" pitchFamily="34" charset="-120"/>
              </a:rPr>
              <a:t>行情：市場怎麼動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257800" y="5806440"/>
            <a:ext cx="2057400" cy="329184"/>
          </a:xfrm>
          <a:prstGeom prst="roundRect">
            <a:avLst/>
          </a:prstGeom>
          <a:solidFill>
            <a:srgbClr val="56656C"/>
          </a:solidFill>
          <a:ln>
            <a:solidFill>
              <a:srgbClr val="5665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rPr sz="1600">
                <a:latin typeface="微軟正黑體" panose="020B0604030504040204" pitchFamily="34" charset="-120"/>
                <a:ea typeface="微軟正黑體" panose="020B0604030504040204" pitchFamily="34" charset="-120"/>
              </a:rPr>
              <a:t>投顧：適合什麼配置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18120" y="5806440"/>
            <a:ext cx="3337560" cy="329184"/>
          </a:xfrm>
          <a:prstGeom prst="roundRect">
            <a:avLst/>
          </a:prstGeom>
          <a:solidFill>
            <a:srgbClr val="1B4E47"/>
          </a:solidFill>
          <a:ln>
            <a:solidFill>
              <a:srgbClr val="1B4E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rPr sz="1600">
                <a:latin typeface="微軟正黑體" panose="020B0604030504040204" pitchFamily="34" charset="-120"/>
                <a:ea typeface="微軟正黑體" panose="020B0604030504040204" pitchFamily="34" charset="-120"/>
              </a:rPr>
              <a:t>逆思：這筆決策是否仍成立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9389" y="6190376"/>
            <a:ext cx="7571303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 b="1">
                <a:solidFill>
                  <a:srgbClr val="1A2528"/>
                </a:solidFill>
              </a:defRPr>
            </a:pPr>
            <a:r>
              <a:rPr sz="1600">
                <a:latin typeface="微軟正黑體" panose="020B0604030504040204" pitchFamily="34" charset="-120"/>
                <a:ea typeface="微軟正黑體" panose="020B0604030504040204" pitchFamily="34" charset="-120"/>
              </a:rPr>
              <a:t>核心優勢：從一次性分析，升級為會追蹤、會反證、會因人而異的投資決策教練。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15708" y="6516884"/>
            <a:ext cx="407484" cy="2616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700" b="0">
                <a:solidFill>
                  <a:srgbClr val="5A696E"/>
                </a:solidFill>
              </a:defRPr>
            </a:pPr>
            <a:r>
              <a:rPr sz="1100">
                <a:latin typeface="微軟正黑體" panose="020B0604030504040204" pitchFamily="34" charset="-120"/>
                <a:ea typeface="微軟正黑體" panose="020B0604030504040204" pitchFamily="34" charset="-120"/>
              </a:rPr>
              <a:t>1/3</a:t>
            </a:r>
          </a:p>
        </p:txBody>
      </p:sp>
      <p:sp>
        <p:nvSpPr>
          <p:cNvPr id="24" name="Isosceles Triangle 23"/>
          <p:cNvSpPr/>
          <p:nvPr/>
        </p:nvSpPr>
        <p:spPr>
          <a:xfrm rot="5400000">
            <a:off x="8284464" y="2386584"/>
            <a:ext cx="164592" cy="164592"/>
          </a:xfrm>
          <a:prstGeom prst="triangle">
            <a:avLst/>
          </a:prstGeom>
          <a:solidFill>
            <a:srgbClr val="DF9F24"/>
          </a:solidFill>
          <a:ln>
            <a:solidFill>
              <a:srgbClr val="DF9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5" name="Isosceles Triangle 24"/>
          <p:cNvSpPr/>
          <p:nvPr/>
        </p:nvSpPr>
        <p:spPr>
          <a:xfrm rot="10800000">
            <a:off x="9838944" y="4059936"/>
            <a:ext cx="164592" cy="164592"/>
          </a:xfrm>
          <a:prstGeom prst="triangle">
            <a:avLst/>
          </a:prstGeom>
          <a:solidFill>
            <a:srgbClr val="D85B49"/>
          </a:solidFill>
          <a:ln>
            <a:solidFill>
              <a:srgbClr val="D85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6" name="Isosceles Triangle 25"/>
          <p:cNvSpPr/>
          <p:nvPr/>
        </p:nvSpPr>
        <p:spPr>
          <a:xfrm rot="16200000">
            <a:off x="3547872" y="4645152"/>
            <a:ext cx="164592" cy="164592"/>
          </a:xfrm>
          <a:prstGeom prst="triangle">
            <a:avLst/>
          </a:prstGeom>
          <a:solidFill>
            <a:srgbClr val="4678C3"/>
          </a:solidFill>
          <a:ln>
            <a:solidFill>
              <a:srgbClr val="4678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7" name="Isosceles Triangle 26"/>
          <p:cNvSpPr/>
          <p:nvPr/>
        </p:nvSpPr>
        <p:spPr>
          <a:xfrm>
            <a:off x="2066543" y="2944368"/>
            <a:ext cx="164592" cy="164592"/>
          </a:xfrm>
          <a:prstGeom prst="triangle">
            <a:avLst/>
          </a:prstGeom>
          <a:solidFill>
            <a:srgbClr val="3F9E66"/>
          </a:solidFill>
          <a:ln>
            <a:solidFill>
              <a:srgbClr val="3F9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528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核心功能與具體開發作法</a:t>
            </a:r>
          </a:p>
        </p:txBody>
      </p:sp>
      <p:sp>
        <p:nvSpPr>
          <p:cNvPr id="3" name="Text 1"/>
          <p:cNvSpPr/>
          <p:nvPr/>
        </p:nvSpPr>
        <p:spPr>
          <a:xfrm>
            <a:off x="530352" y="75895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E6B7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把功能、畫面輸出與實作方式放在同一頁，方便評審理解可落地性。</a:t>
            </a:r>
            <a:endParaRPr lang="en-US" sz="1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201400" cy="0"/>
          </a:xfrm>
          <a:prstGeom prst="line">
            <a:avLst/>
          </a:prstGeom>
          <a:noFill/>
          <a:ln w="12700">
            <a:solidFill>
              <a:srgbClr val="D9DF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234440"/>
            <a:ext cx="1508760" cy="320040"/>
          </a:xfrm>
          <a:prstGeom prst="rect">
            <a:avLst/>
          </a:prstGeom>
          <a:solidFill>
            <a:srgbClr val="1B4D4A"/>
          </a:solidFill>
          <a:ln w="12700">
            <a:solidFill>
              <a:srgbClr val="1B4D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07592"/>
            <a:ext cx="1362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功能群組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176272" y="1234440"/>
            <a:ext cx="3154680" cy="320040"/>
          </a:xfrm>
          <a:prstGeom prst="rect">
            <a:avLst/>
          </a:prstGeom>
          <a:solidFill>
            <a:srgbClr val="1B4D4A"/>
          </a:solidFill>
          <a:ln w="12700">
            <a:solidFill>
              <a:srgbClr val="1B4D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49424" y="1307592"/>
            <a:ext cx="30083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使用者看到什麼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504688" y="1234440"/>
            <a:ext cx="2926080" cy="320040"/>
          </a:xfrm>
          <a:prstGeom prst="rect">
            <a:avLst/>
          </a:prstGeom>
          <a:solidFill>
            <a:srgbClr val="1B4D4A"/>
          </a:solidFill>
          <a:ln w="12700">
            <a:solidFill>
              <a:srgbClr val="1B4D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77840" y="1307592"/>
            <a:ext cx="2779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 err="1" smtClean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怎麼做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641080" y="1234440"/>
            <a:ext cx="2834640" cy="320040"/>
          </a:xfrm>
          <a:prstGeom prst="rect">
            <a:avLst/>
          </a:prstGeom>
          <a:solidFill>
            <a:srgbClr val="1B4D4A"/>
          </a:solidFill>
          <a:ln w="12700">
            <a:solidFill>
              <a:srgbClr val="1B4D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14232" y="1307592"/>
            <a:ext cx="2688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差異點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66928" y="1700784"/>
            <a:ext cx="15087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F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176272" y="1700784"/>
            <a:ext cx="31546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F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504688" y="1700784"/>
            <a:ext cx="29260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FD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41080" y="1700784"/>
            <a:ext cx="28346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F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1938528"/>
            <a:ext cx="1261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4D4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個人化規畫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2331720" y="1810512"/>
            <a:ext cx="2852928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825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問卷卡＋風險儀表板；輸出可承受損失、期限與部位上限。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641848" y="1801368"/>
            <a:ext cx="2651760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825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8–12 題問卷＋規則引擎；依收入、預備金、資金期限、最大損失計算風險輪廓。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778240" y="1828800"/>
            <a:ext cx="2578608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825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風險評估不是停在分類，而會套用到每筆投資判斷。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66928" y="2542032"/>
            <a:ext cx="1508760" cy="777240"/>
          </a:xfrm>
          <a:prstGeom prst="rect">
            <a:avLst/>
          </a:prstGeom>
          <a:solidFill>
            <a:srgbClr val="F0F4F1"/>
          </a:solidFill>
          <a:ln w="6350">
            <a:solidFill>
              <a:srgbClr val="D9DFD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176272" y="2542032"/>
            <a:ext cx="3154680" cy="777240"/>
          </a:xfrm>
          <a:prstGeom prst="rect">
            <a:avLst/>
          </a:prstGeom>
          <a:solidFill>
            <a:srgbClr val="F0F4F1"/>
          </a:solidFill>
          <a:ln w="6350">
            <a:solidFill>
              <a:srgbClr val="D9DFD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504688" y="2542032"/>
            <a:ext cx="2926080" cy="777240"/>
          </a:xfrm>
          <a:prstGeom prst="rect">
            <a:avLst/>
          </a:prstGeom>
          <a:solidFill>
            <a:srgbClr val="F0F4F1"/>
          </a:solidFill>
          <a:ln w="6350">
            <a:solidFill>
              <a:srgbClr val="D9DFD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641080" y="2542032"/>
            <a:ext cx="2834640" cy="777240"/>
          </a:xfrm>
          <a:prstGeom prst="rect">
            <a:avLst/>
          </a:prstGeom>
          <a:solidFill>
            <a:srgbClr val="F0F4F1"/>
          </a:solidFill>
          <a:ln w="6350">
            <a:solidFill>
              <a:srgbClr val="D9DF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2779776"/>
            <a:ext cx="1261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4D4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投資方向探索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2331720" y="2651760"/>
            <a:ext cx="2852928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825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卡片列出資產類型與候選標的；可比較適合與不適合原因。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5641848" y="2642616"/>
            <a:ext cx="2651760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825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固定標的池＋條件篩選；先支援台股 ETF 與大型股，避免做全市場黑箱推薦。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8778240" y="2670048"/>
            <a:ext cx="2578608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825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提供「研究方向」而不是直接宣稱最佳買點。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566928" y="3383280"/>
            <a:ext cx="15087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FD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176272" y="3383280"/>
            <a:ext cx="31546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FD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504688" y="3383280"/>
            <a:ext cx="29260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FD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641080" y="3383280"/>
            <a:ext cx="28346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F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5800" y="3621024"/>
            <a:ext cx="1261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4D4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決策驗證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2331720" y="3493008"/>
            <a:ext cx="2852928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825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輸入買進理由後，生成支持證據、反方證據、假設與風險。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5641848" y="3483864"/>
            <a:ext cx="2651760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825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財務資料/估值指標由程式計算；LLM 只做論點拆解與白話解釋。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8778240" y="3511296"/>
            <a:ext cx="2578608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825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主動挑戰使用者觀點，而不是只摘要股票資訊。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566928" y="4224528"/>
            <a:ext cx="1508760" cy="777240"/>
          </a:xfrm>
          <a:prstGeom prst="rect">
            <a:avLst/>
          </a:prstGeom>
          <a:solidFill>
            <a:srgbClr val="F0F4F1"/>
          </a:solidFill>
          <a:ln w="6350">
            <a:solidFill>
              <a:srgbClr val="D9DFD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176272" y="4224528"/>
            <a:ext cx="3154680" cy="777240"/>
          </a:xfrm>
          <a:prstGeom prst="rect">
            <a:avLst/>
          </a:prstGeom>
          <a:solidFill>
            <a:srgbClr val="F0F4F1"/>
          </a:solidFill>
          <a:ln w="6350">
            <a:solidFill>
              <a:srgbClr val="D9DFD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504688" y="4224528"/>
            <a:ext cx="2926080" cy="777240"/>
          </a:xfrm>
          <a:prstGeom prst="rect">
            <a:avLst/>
          </a:prstGeom>
          <a:solidFill>
            <a:srgbClr val="F0F4F1"/>
          </a:solidFill>
          <a:ln w="6350">
            <a:solidFill>
              <a:srgbClr val="D9DFD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641080" y="4224528"/>
            <a:ext cx="2834640" cy="777240"/>
          </a:xfrm>
          <a:prstGeom prst="rect">
            <a:avLst/>
          </a:prstGeom>
          <a:solidFill>
            <a:srgbClr val="F0F4F1"/>
          </a:solidFill>
          <a:ln w="6350">
            <a:solidFill>
              <a:srgbClr val="D9DFD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5800" y="4462272"/>
            <a:ext cx="1261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4D4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AI 對話助理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2331720" y="4334256"/>
            <a:ext cx="2852928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825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側邊對話欄可追問原因、比較標的、建立論點卡；結果轉成結構化卡片。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5641848" y="4325112"/>
            <a:ext cx="2651760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825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限制對話工具：查資料、產報告、更新卡片、設定條件；避免純自由投資問答。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8778240" y="4352544"/>
            <a:ext cx="2578608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825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有 Chatbot，但主體是投資決策工作台。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566928" y="5065776"/>
            <a:ext cx="15087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FD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176272" y="5065776"/>
            <a:ext cx="31546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FD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504688" y="5065776"/>
            <a:ext cx="29260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FD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641080" y="5065776"/>
            <a:ext cx="28346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FD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85800" y="5303520"/>
            <a:ext cx="1261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4D4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心跳追蹤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2331720" y="5175504"/>
            <a:ext cx="2852928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825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重大變化才推播；通知直接說明影響哪個原始假設與下一步。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5641848" y="5166360"/>
            <a:ext cx="2651760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825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排程檢查營收、財報、估值、持股比重與使用者條件；達門檻才呼叫 AI。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8778240" y="5193792"/>
            <a:ext cx="2578608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825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監控投資理由是否失效，不只是價格警示。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11475720" y="6565392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50" dirty="0">
                <a:solidFill>
                  <a:srgbClr val="8A9698"/>
                </a:solidFill>
              </a:rPr>
              <a:t>2/3</a:t>
            </a:r>
            <a:endParaRPr lang="en-US" sz="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528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一個月 MVP：資料流、畫面與開發排程</a:t>
            </a:r>
          </a:p>
        </p:txBody>
      </p:sp>
      <p:sp>
        <p:nvSpPr>
          <p:cNvPr id="3" name="Text 1"/>
          <p:cNvSpPr/>
          <p:nvPr/>
        </p:nvSpPr>
        <p:spPr>
          <a:xfrm>
            <a:off x="530352" y="75895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E6B7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用最小範圍完成可展示版本：台股 ETF＋大型股、單筆投資決策健檢、心跳提醒。</a:t>
            </a:r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201400" cy="0"/>
          </a:xfrm>
          <a:prstGeom prst="line">
            <a:avLst/>
          </a:prstGeom>
          <a:noFill/>
          <a:ln w="12700">
            <a:solidFill>
              <a:srgbClr val="D9DF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298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D4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MVP 資料流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40080" y="1664208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9DF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1773936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2A67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前端 APP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86384" y="2075688"/>
            <a:ext cx="1536192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825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問卷、候選卡、論點卡、側邊 AI 助理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468880" y="2121408"/>
            <a:ext cx="502920" cy="0"/>
          </a:xfrm>
          <a:prstGeom prst="line">
            <a:avLst/>
          </a:prstGeom>
          <a:noFill/>
          <a:ln w="17780">
            <a:solidFill>
              <a:srgbClr val="5E6B70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971800" y="1664208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9DF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18104" y="1773936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774B8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資料層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118104" y="2075688"/>
            <a:ext cx="1536192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r>
              <a:rPr lang="en-US" sz="1200" dirty="0">
                <a:solidFill>
                  <a:srgbClr val="1825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FinMind/公開資料、價格、營收、財報、估值</a:t>
            </a:r>
          </a:p>
        </p:txBody>
      </p:sp>
      <p:sp>
        <p:nvSpPr>
          <p:cNvPr id="13" name="Shape 11"/>
          <p:cNvSpPr/>
          <p:nvPr/>
        </p:nvSpPr>
        <p:spPr>
          <a:xfrm>
            <a:off x="4800600" y="2121408"/>
            <a:ext cx="594360" cy="0"/>
          </a:xfrm>
          <a:prstGeom prst="line">
            <a:avLst/>
          </a:prstGeom>
          <a:noFill/>
          <a:ln w="17780">
            <a:solidFill>
              <a:srgbClr val="5E6B70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394960" y="1664208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9DF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41264" y="1773936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B84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規則引擎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541264" y="2075688"/>
            <a:ext cx="1536192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825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風險分數、部位上限、集中度、觸發門檻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7223760" y="2121408"/>
            <a:ext cx="548640" cy="0"/>
          </a:xfrm>
          <a:prstGeom prst="line">
            <a:avLst/>
          </a:prstGeom>
          <a:noFill/>
          <a:ln w="17780">
            <a:solidFill>
              <a:srgbClr val="5E6B70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772400" y="1664208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9DF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18704" y="1773936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6B5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LLM 分析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918704" y="2075688"/>
            <a:ext cx="1536192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825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論點拆解、反方證據、白話說明、行動建議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9601200" y="2121408"/>
            <a:ext cx="502920" cy="0"/>
          </a:xfrm>
          <a:prstGeom prst="line">
            <a:avLst/>
          </a:prstGeom>
          <a:noFill/>
          <a:ln w="17780">
            <a:solidFill>
              <a:srgbClr val="5E6B70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10104120" y="1664208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9DF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250424" y="1773936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D4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心跳排程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0250424" y="2075688"/>
            <a:ext cx="1536192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825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每日/每週巡查；重大變化才通知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21792" y="305409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D4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Demo 流程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85800" y="3456432"/>
            <a:ext cx="1572768" cy="777240"/>
          </a:xfrm>
          <a:prstGeom prst="roundRect">
            <a:avLst>
              <a:gd name="adj" fmla="val 9412"/>
            </a:avLst>
          </a:prstGeom>
          <a:solidFill>
            <a:srgbClr val="EAF2EC"/>
          </a:solidFill>
          <a:ln w="10160">
            <a:solidFill>
              <a:srgbClr val="D9DF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3611880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4D4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 風險問卷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777240" y="3858768"/>
            <a:ext cx="1389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825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建立個人輪廓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2258568" y="3840480"/>
            <a:ext cx="237744" cy="0"/>
          </a:xfrm>
          <a:prstGeom prst="line">
            <a:avLst/>
          </a:prstGeom>
          <a:noFill/>
          <a:ln w="17780">
            <a:solidFill>
              <a:srgbClr val="5E6B70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2560320" y="3456432"/>
            <a:ext cx="1572768" cy="777240"/>
          </a:xfrm>
          <a:prstGeom prst="roundRect">
            <a:avLst>
              <a:gd name="adj" fmla="val 9412"/>
            </a:avLst>
          </a:prstGeom>
          <a:solidFill>
            <a:srgbClr val="EEF4F8"/>
          </a:solidFill>
          <a:ln w="10160">
            <a:solidFill>
              <a:srgbClr val="D9DF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51760" y="3611880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4D4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 候選標的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2651760" y="3858768"/>
            <a:ext cx="1389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825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依條件縮小範圍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4133088" y="3840480"/>
            <a:ext cx="237744" cy="0"/>
          </a:xfrm>
          <a:prstGeom prst="line">
            <a:avLst/>
          </a:prstGeom>
          <a:noFill/>
          <a:ln w="17780">
            <a:solidFill>
              <a:srgbClr val="5E6B70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4434840" y="3456432"/>
            <a:ext cx="1572768" cy="777240"/>
          </a:xfrm>
          <a:prstGeom prst="roundRect">
            <a:avLst>
              <a:gd name="adj" fmla="val 9412"/>
            </a:avLst>
          </a:prstGeom>
          <a:solidFill>
            <a:srgbClr val="EAF2EC"/>
          </a:solidFill>
          <a:ln w="10160">
            <a:solidFill>
              <a:srgbClr val="D9DF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26280" y="3611880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4D4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 論點壓測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4526280" y="3858768"/>
            <a:ext cx="1389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825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正反證據與假設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6007608" y="3840480"/>
            <a:ext cx="237744" cy="0"/>
          </a:xfrm>
          <a:prstGeom prst="line">
            <a:avLst/>
          </a:prstGeom>
          <a:noFill/>
          <a:ln w="17780">
            <a:solidFill>
              <a:srgbClr val="5E6B70"/>
            </a:solidFill>
            <a:prstDash val="solid"/>
            <a:headEnd type="none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6309360" y="3456432"/>
            <a:ext cx="1572768" cy="777240"/>
          </a:xfrm>
          <a:prstGeom prst="roundRect">
            <a:avLst>
              <a:gd name="adj" fmla="val 9412"/>
            </a:avLst>
          </a:prstGeom>
          <a:solidFill>
            <a:srgbClr val="EEF4F8"/>
          </a:solidFill>
          <a:ln w="10160">
            <a:solidFill>
              <a:srgbClr val="D9DFD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0" y="3611880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4D4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4 雙重評分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6400800" y="3923504"/>
            <a:ext cx="1389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825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標的成立度＋個人適合度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7882128" y="3840480"/>
            <a:ext cx="237744" cy="0"/>
          </a:xfrm>
          <a:prstGeom prst="line">
            <a:avLst/>
          </a:prstGeom>
          <a:noFill/>
          <a:ln w="17780">
            <a:solidFill>
              <a:srgbClr val="5E6B70"/>
            </a:solidFill>
            <a:prstDash val="solid"/>
            <a:headEnd type="none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8183880" y="3456432"/>
            <a:ext cx="1572768" cy="777240"/>
          </a:xfrm>
          <a:prstGeom prst="roundRect">
            <a:avLst>
              <a:gd name="adj" fmla="val 9412"/>
            </a:avLst>
          </a:prstGeom>
          <a:solidFill>
            <a:srgbClr val="EAF2EC"/>
          </a:solidFill>
          <a:ln w="10160">
            <a:solidFill>
              <a:srgbClr val="D9DFD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275320" y="3611880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4D4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5 論點卡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8275320" y="3858768"/>
            <a:ext cx="1389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825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追蹤指標與失效條件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9756648" y="3840480"/>
            <a:ext cx="237744" cy="0"/>
          </a:xfrm>
          <a:prstGeom prst="line">
            <a:avLst/>
          </a:prstGeom>
          <a:noFill/>
          <a:ln w="17780">
            <a:solidFill>
              <a:srgbClr val="5E6B70"/>
            </a:solidFill>
            <a:prstDash val="solid"/>
            <a:headEnd type="none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10058400" y="3456432"/>
            <a:ext cx="1572768" cy="777240"/>
          </a:xfrm>
          <a:prstGeom prst="roundRect">
            <a:avLst>
              <a:gd name="adj" fmla="val 9412"/>
            </a:avLst>
          </a:prstGeom>
          <a:solidFill>
            <a:srgbClr val="EEF4F8"/>
          </a:solidFill>
          <a:ln w="10160">
            <a:solidFill>
              <a:srgbClr val="D9DFD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149840" y="3611880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4D4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6 心跳提醒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10149840" y="3858768"/>
            <a:ext cx="1389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825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變化影響決策才推播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621792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D4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4 週開發重點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685800" y="5138928"/>
            <a:ext cx="2514600" cy="685800"/>
          </a:xfrm>
          <a:prstGeom prst="rect">
            <a:avLst/>
          </a:prstGeom>
          <a:solidFill>
            <a:srgbClr val="FFFFFF"/>
          </a:solidFill>
          <a:ln w="10160">
            <a:solidFill>
              <a:srgbClr val="D9DFD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77240" y="5248656"/>
            <a:ext cx="62179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D4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第 1 週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1399032" y="5308092"/>
            <a:ext cx="1664208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825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定義問卷、資料欄位、標的池、UI flow；完成靜態原型。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3474720" y="5138928"/>
            <a:ext cx="2514600" cy="685800"/>
          </a:xfrm>
          <a:prstGeom prst="rect">
            <a:avLst/>
          </a:prstGeom>
          <a:solidFill>
            <a:srgbClr val="FFFFFF"/>
          </a:solidFill>
          <a:ln w="10160">
            <a:solidFill>
              <a:srgbClr val="D9DFD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566160" y="5248656"/>
            <a:ext cx="62179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D4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第 2 週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4187952" y="5308092"/>
            <a:ext cx="1664208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r>
              <a:rPr lang="en-US" sz="1200" dirty="0">
                <a:solidFill>
                  <a:srgbClr val="1825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串資料與規則引擎；完成風險分數、候選篩選、部位建議。</a:t>
            </a:r>
          </a:p>
        </p:txBody>
      </p:sp>
      <p:sp>
        <p:nvSpPr>
          <p:cNvPr id="56" name="Shape 54"/>
          <p:cNvSpPr/>
          <p:nvPr/>
        </p:nvSpPr>
        <p:spPr>
          <a:xfrm>
            <a:off x="6263640" y="5138928"/>
            <a:ext cx="2514600" cy="685800"/>
          </a:xfrm>
          <a:prstGeom prst="rect">
            <a:avLst/>
          </a:prstGeom>
          <a:solidFill>
            <a:srgbClr val="FFFFFF"/>
          </a:solidFill>
          <a:ln w="10160">
            <a:solidFill>
              <a:srgbClr val="D9DFD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355080" y="5248656"/>
            <a:ext cx="62179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D4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第 3 週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6976872" y="5308092"/>
            <a:ext cx="1664208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r>
              <a:rPr lang="en-US" sz="1200" dirty="0">
                <a:solidFill>
                  <a:srgbClr val="1825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接入 LLM 分析與 AI 助理；完成論點卡與雙重評分。</a:t>
            </a:r>
          </a:p>
        </p:txBody>
      </p:sp>
      <p:sp>
        <p:nvSpPr>
          <p:cNvPr id="59" name="Shape 57"/>
          <p:cNvSpPr/>
          <p:nvPr/>
        </p:nvSpPr>
        <p:spPr>
          <a:xfrm>
            <a:off x="9052560" y="5138928"/>
            <a:ext cx="2514600" cy="685800"/>
          </a:xfrm>
          <a:prstGeom prst="rect">
            <a:avLst/>
          </a:prstGeom>
          <a:solidFill>
            <a:srgbClr val="FFFFFF"/>
          </a:solidFill>
          <a:ln w="10160">
            <a:solidFill>
              <a:srgbClr val="D9DFD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144000" y="5189220"/>
            <a:ext cx="621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D4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第 4 週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1" name="Text 59"/>
          <p:cNvSpPr/>
          <p:nvPr/>
        </p:nvSpPr>
        <p:spPr>
          <a:xfrm>
            <a:off x="9765792" y="5308092"/>
            <a:ext cx="1664208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r>
              <a:rPr lang="en-US" sz="1200" dirty="0">
                <a:solidFill>
                  <a:srgbClr val="1825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完成心跳排程、推播模擬、Demo 案例、測試與簡報。</a:t>
            </a:r>
          </a:p>
        </p:txBody>
      </p:sp>
      <p:sp>
        <p:nvSpPr>
          <p:cNvPr id="62" name="Text 60"/>
          <p:cNvSpPr/>
          <p:nvPr/>
        </p:nvSpPr>
        <p:spPr>
          <a:xfrm>
            <a:off x="822960" y="612648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4D4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MVP 原則：不串接下單、不做全市場黑箱選股；先證明「個人化單筆投資決策健檢」能產生差異化結論。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11475720" y="6565392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50" dirty="0">
                <a:solidFill>
                  <a:srgbClr val="8A9698"/>
                </a:solidFill>
              </a:rPr>
              <a:t>3/3</a:t>
            </a:r>
            <a:endParaRPr lang="en-US" sz="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T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T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363</Words>
  <Application>Microsoft Office PowerPoint</Application>
  <PresentationFormat>寬螢幕</PresentationFormat>
  <Paragraphs>88</Paragraphs>
  <Slides>3</Slides>
  <Notes>3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8" baseType="lpstr">
      <vt:lpstr>Noto Sans CJK TC</vt:lpstr>
      <vt:lpstr>微軟正黑體</vt:lpstr>
      <vt:lpstr>Arial</vt:lpstr>
      <vt:lpstr>Calibri</vt:lpstr>
      <vt:lpstr>Office Theme</vt:lpstr>
      <vt:lpstr>PowerPoint 簡報</vt:lpstr>
      <vt:lpstr>PowerPoint 簡報</vt:lpstr>
      <vt:lpstr>PowerPoint 簡報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逆思投資 APP 3頁明確開發版</dc:title>
  <dc:subject>逆思投資 APP 3頁明確開發版</dc:subject>
  <dc:creator>OpenAI</dc:creator>
  <cp:lastModifiedBy>user</cp:lastModifiedBy>
  <cp:revision>2</cp:revision>
  <dcterms:created xsi:type="dcterms:W3CDTF">2026-07-26T12:57:43Z</dcterms:created>
  <dcterms:modified xsi:type="dcterms:W3CDTF">2026-07-26T13:26:42Z</dcterms:modified>
</cp:coreProperties>
</file>